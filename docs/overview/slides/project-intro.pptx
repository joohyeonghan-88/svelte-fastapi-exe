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1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713232"/>
            <a:ext cx="457200" cy="457200"/>
          </a:xfrm>
          <a:prstGeom prst="star12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81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INTRODUCTION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EXE로 배포하는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AI Agent 플랫폼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382219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Svelte SPA + FastAPI + LLM Agent 하니스를 PyInstaller 단일 실행 파일로 패키징하고,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Nexus로 배포·자동 업데이트하는 사내 AI Agent 채팅 앱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5074920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5063947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프로젝트 전체 흐름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47288" y="5074920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5063947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구현된 UX / UI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5074920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5063947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Backend 동작 흐름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1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docs/overview — 2026.06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자료의 구성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사람 기준으로, 큰 그림에서 내부 구현 순서로 내려간다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9280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96112" y="28346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흐름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96112" y="32644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만들고, 어떻게 빌드·배포되는가?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39776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빌드 → 배포 → 실행 → 업데이트</a:t>
            </a:r>
            <a:endParaRPr lang="en-US" sz="10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· 디렉터리 구조</a:t>
            </a:r>
            <a:endParaRPr lang="en-US" sz="10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 · PROMPTS/SKILLS/AGENTS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07408" y="169164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9280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구현된 UX / UI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63440" y="32644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사용자는 어떤 화면에서 무엇을 쓰는가?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레이아웃 · 세션 · 입력</a:t>
            </a:r>
            <a:endParaRPr lang="en-US" sz="10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가시화 · 에이전트 타임라인</a:t>
            </a:r>
            <a:endParaRPr lang="en-US" sz="10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 패널 · 차트 인터랙션 · 설정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74736" y="169164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189280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30768" y="28346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동작 흐름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30768" y="32644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내부적으로 어떻게 움직이는가?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30768" y="39776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 · 생명주기 · API 지도</a:t>
            </a:r>
            <a:endParaRPr lang="en-US" sz="10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한 턴(run_turn) · 서브 에이전트</a:t>
            </a:r>
            <a:endParaRPr lang="en-US" sz="10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 · 내장 도구 · 산출물 파이프라인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1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927080" y="640080"/>
            <a:ext cx="384048" cy="384048"/>
          </a:xfrm>
          <a:prstGeom prst="star12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spc="300" kern="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0" y="17373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31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3000" dirty="0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흐름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76656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만들고, 어떻게 빌드·배포되는가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17420" y="4023360"/>
            <a:ext cx="1092708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2" name="Text 10"/>
          <p:cNvSpPr/>
          <p:nvPr/>
        </p:nvSpPr>
        <p:spPr>
          <a:xfrm>
            <a:off x="2217420" y="4012387"/>
            <a:ext cx="109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목표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402336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4012387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큰 그림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57216" y="402336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6" name="Text 14"/>
          <p:cNvSpPr/>
          <p:nvPr/>
        </p:nvSpPr>
        <p:spPr>
          <a:xfrm>
            <a:off x="5157216" y="4012387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4023360"/>
            <a:ext cx="1092708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4012387"/>
            <a:ext cx="109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빌드·배포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30084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0" name="Text 18"/>
          <p:cNvSpPr/>
          <p:nvPr/>
        </p:nvSpPr>
        <p:spPr>
          <a:xfrm>
            <a:off x="7530084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업데이트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70848" y="4023360"/>
            <a:ext cx="1092708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2" name="Text 20"/>
          <p:cNvSpPr/>
          <p:nvPr/>
        </p:nvSpPr>
        <p:spPr>
          <a:xfrm>
            <a:off x="9070848" y="4012387"/>
            <a:ext cx="109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328148" y="4023360"/>
            <a:ext cx="3360420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4" name="Text 22"/>
          <p:cNvSpPr/>
          <p:nvPr/>
        </p:nvSpPr>
        <p:spPr>
          <a:xfrm>
            <a:off x="10328148" y="4012387"/>
            <a:ext cx="3360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PROMPTS·SKILLS·AGENTS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2708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0332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“웹 기술로 만든 AI Agent 채팅 앱을, </a:t>
            </a:r>
            <a:pPr indent="0" marL="0">
              <a:buNone/>
            </a:pPr>
            <a:r>
              <a:rPr lang="en-US" sz="17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서버·설치 과정 없이 단일 .exe 하나로</a:t>
            </a:r>
            <a:pPr indent="0" marL="0">
              <a:buNone/>
            </a:pPr>
            <a:r>
              <a:rPr lang="en-US" sz="17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사내 PC에 배포한다”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794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 SPA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2788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보는 채팅 UI — 정적 빌드 산출물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2658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333756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파일 서빙 + REST/SSE API + LLM 에이전트 하니스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7522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PyInstaller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38862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둘 + 에이전트 정의 파일을 묶어 단일 EXE로 패키징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2386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44348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저장소 — EXE와 버전 메타데이터(latest.json) 배포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250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Updater.exe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88920" y="4983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앱을 새 버전으로 자가 교체 (자동 업데이트)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715000"/>
            <a:ext cx="10927080" cy="566928"/>
          </a:xfrm>
          <a:prstGeom prst="roundRect">
            <a:avLst>
              <a:gd name="adj" fmla="val 11290"/>
            </a:avLst>
          </a:prstGeom>
          <a:solidFill>
            <a:srgbClr val="F3E3D9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7150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컨셉   </a:t>
            </a:r>
            <a:pPr indent="0" marL="0">
              <a:buNone/>
            </a:pPr>
            <a:r>
              <a:rPr lang="en-US" sz="12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브라우저가 화면이고, EXE가 서버다 — 더블클릭하면 로컬 백엔드가 켜지고 브라우저에 채팅 화면이 열린다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이런 구조인가 — 5가지 설계 목표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73936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60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과정 없는 배포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267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복사만으로 실행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PyInstaller onefile 단일 EXE — Python 런타임·웹 자산 전부 내장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07408" y="15544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1773936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1760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38928" y="17556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경계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36008" y="2267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네트워크 노출 차단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36008" y="2560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127.0.0.1 루프백 고정 바인딩 + Origin 가드 (env로도 변경 불가)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74736" y="15544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3336" y="1773936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8403336" y="1760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06256" y="17556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충돌 없음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03336" y="2267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PC 환경 무가정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03336" y="2560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 시 OS가 빈 포트 동적 할당, 프론트는 상대 경로만 사용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547872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76732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7536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7490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재배포 제거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68680" y="42611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업그레이드 자동화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5537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업데이트 체크 + sha256 검증 + Updater.exe 자가 교체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07408" y="3547872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6008" y="376732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0"/>
          <p:cNvSpPr/>
          <p:nvPr/>
        </p:nvSpPr>
        <p:spPr>
          <a:xfrm>
            <a:off x="4636008" y="37536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38928" y="37490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 없는 확장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636008" y="42611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로직과 앱 분리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36008" y="45537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PROMPTS / SKILLS / AGENTS 마크다운 + .env 한 줄로 동작 정의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07408" y="3547872"/>
            <a:ext cx="7159752" cy="1828800"/>
          </a:xfrm>
          <a:prstGeom prst="roundRect">
            <a:avLst>
              <a:gd name="adj" fmla="val 3500"/>
            </a:avLst>
          </a:prstGeom>
          <a:solidFill>
            <a:srgbClr val="F0EEE6"/>
          </a:solidFill>
          <a:ln/>
        </p:spPr>
      </p:sp>
      <p:sp>
        <p:nvSpPr>
          <p:cNvPr id="37" name="Text 35"/>
          <p:cNvSpPr/>
          <p:nvPr/>
        </p:nvSpPr>
        <p:spPr>
          <a:xfrm>
            <a:off x="4681728" y="3767328"/>
            <a:ext cx="6629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에이전트의 정체성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“미리 등록된 Python API 도구를 계획(plan)에 따라 실행하는 플랫폼”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작성·편집하는 AI 코딩 어시스턴트가 아니라, 사내 도메인 작업(데이터 조회·분석·보고)을 대화로 수행하는 업무 에이전트를 지향한다.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그림 — 개발부터 사용자까지 5단계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16736" y="18745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478024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frontend/ (Svelte)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backend/ (FastAPI)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PROMPTS·SKILLS·AGENTS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24912" y="26060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35808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8745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12464" y="18745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236976" y="2478024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release.ps1 한 줄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build + PyInstaller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release/MyAgent.exe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26060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31536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18745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5614416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08192" y="18745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32704" y="2478024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Nexus 업로드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 + latest.json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(EXE 먼저, json 마지막)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16368" y="26060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27264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0144" y="18745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8010144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18745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028432" y="2478024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 더블클릭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동적 포트 기동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자동 오픈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912096" y="26060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222992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05872" y="18745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0"/>
          <p:cNvSpPr/>
          <p:nvPr/>
        </p:nvSpPr>
        <p:spPr>
          <a:xfrm>
            <a:off x="10405872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899648" y="18745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424160" y="2478024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latest.json 확인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+ sha256 검증</a:t>
            </a:r>
            <a:endParaRPr lang="en-US" sz="9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Updater가 자가 교체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4343400"/>
            <a:ext cx="10927080" cy="1417320"/>
          </a:xfrm>
          <a:prstGeom prst="roundRect">
            <a:avLst>
              <a:gd name="adj" fmla="val 4516"/>
            </a:avLst>
          </a:prstGeom>
          <a:solidFill>
            <a:srgbClr val="F0EEE6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폴더의 역할 구분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486460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중간 산출물 — EXE 안에 들어갈 재료 (web/, updater/), 업로드하지 않음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</a:t>
            </a:r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최종 산출물 — Nexus에 업로드되는 것 ({AppName}.exe, latest.json)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 모습 — 사용자 PC 한 대 안에서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57784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00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PC  (외부 네트워크 노출 없음)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96112" y="2057400"/>
            <a:ext cx="5065776" cy="2286000"/>
          </a:xfrm>
          <a:prstGeom prst="roundRect">
            <a:avLst>
              <a:gd name="adj" fmla="val 2800"/>
            </a:avLst>
          </a:prstGeom>
          <a:solidFill>
            <a:srgbClr val="F0EEE6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762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MyAgent.exe  (PyInstaller onefile)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2505456"/>
            <a:ext cx="4663440" cy="1664208"/>
          </a:xfrm>
          <a:prstGeom prst="roundRect">
            <a:avLst>
              <a:gd name="adj" fmla="val 4396"/>
            </a:avLst>
          </a:prstGeom>
          <a:solidFill>
            <a:srgbClr val="27261F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2633472"/>
            <a:ext cx="42611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uvicorn  127.0.0.1:&lt;동적 포트&gt;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/            → 내장 web/ (Svelte SPA)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/api/*       → REST + SSE 스트리밍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/result/*    → 에이전트 산출물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 /workspace/* → 도구 생성 파일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443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 HTTP (루프백 전용)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" y="4754880"/>
            <a:ext cx="506577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754880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브라우저  —  EXE가 자동으로 오픈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37960" y="1554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생명주기는 브라우저 탭과 연동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1938528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9248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95160" y="19385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 기동 → 빈 포트 할당 → 브라우저 자동 오픈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414016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4003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24140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브라우저의 SSE 연결(presence) 유지 = 생존 신호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889504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8757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95160" y="28895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닫음 → 유예 후 watchdog이 서버 자가 종료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4290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“더블클릭으로 켜고, 탭 닫으면 꺼지는” 일반 데스크탑 앱처럼 동작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886200"/>
          <a:ext cx="49834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291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위치 (frozen EXE)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세션·메시지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브라우저 localStorage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설정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%APPDATA%\{APP_NAME}\settings.json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산출물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%APPDATA%\{APP_NAME}\result\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6052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Frontend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Svelte 5 (runes) + Vite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 — 빌드 결과는 순수 정적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ECharts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인터랙티브 차트 (brush 필터 · 레전드 편집)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Backend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 + uvicorn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REST + SSE(Server-Sent Events) 스트리밍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연동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호환 API (DTGPT) + Mock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provider 추상화 — 재시작 없는 핫스왑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polars + parquet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산출물의 표준 데이터 포맷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PyInstaller (onefile)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단일 EXE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Nexus raw repository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중립적 설계 (APP_REPO_* 변수)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 (Python) / npm (JS)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ruff + pytest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포맷·린트 / asyncio 자동 모드 테스트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— 3개 층의 분리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9494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282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화면 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755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 (Svelte 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UI · 세션 관리 · 아티팩트 패널 — 진실의 원천은 브라우저 localStorage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34440" y="25786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REST + SSE  (/api/*)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69494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181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서버 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1455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 (FastAPI)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4930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서빙 · presence 생명주기 · 설정 · 업데이트 · 산출물 API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34440" y="39684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run_turn() 호출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69494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079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에이전트 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45354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backend/agent/ (하니스)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8828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provider ↔ 도구 실행 루프 — 동작 정의는 코드 밖 (PROMPTS·SKILLS·AGENTS)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1600200"/>
            <a:ext cx="3703320" cy="4206240"/>
          </a:xfrm>
          <a:prstGeom prst="roundRect">
            <a:avLst>
              <a:gd name="adj" fmla="val 1728"/>
            </a:avLst>
          </a:prstGeom>
          <a:solidFill>
            <a:srgbClr val="F0EEE6"/>
          </a:solidFill>
          <a:ln/>
        </p:spPr>
      </p:sp>
      <p:sp>
        <p:nvSpPr>
          <p:cNvPr id="21" name="Text 19"/>
          <p:cNvSpPr/>
          <p:nvPr/>
        </p:nvSpPr>
        <p:spPr>
          <a:xfrm>
            <a:off x="8119872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특징적인 데이터 흐름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19872" y="2212848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히스토리의 진실의 원천은 프론트(localStorage)다.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시작·세션 전환 시 프론트가 보관한 메시지를 POST /api/conversation/restore 로 백엔드에 주입(hydrate)해 LLM 컨텍스트를 복원한다.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대화를 영구 저장하지 않는다 — 산출물 파일과 에이전트 상태만 디스크 영속.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디렉터리 구조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126480" cy="4800600"/>
          </a:xfrm>
          <a:prstGeom prst="roundRect">
            <a:avLst>
              <a:gd name="adj" fmla="val 1524"/>
            </a:avLst>
          </a:prstGeom>
          <a:solidFill>
            <a:srgbClr val="27261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82496"/>
            <a:ext cx="5724144" cy="454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svelte-fastapi-exe/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frontend/        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 src/components·lib   UI 26개 + 상태·액션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backend/         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 main.py               엔트리포인트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 core/  api/  agent/   기반·HTTP·하니스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 settings/  scripts/   설정·도메인 유틸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 tests/                pytest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PROMPTS/ SKILLS/ AGENTS/  에이전트 정의(.md)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packaging/       App.spec · release.ps1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updater/         자가 교체 로직 소스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docs/            개발자 가이드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.env             설정의 단일 진실 공급원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build/           (생성) 중간 산출물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release/         (생성) 배포 산출물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result/ workspace/ (생성) 런타임 산출물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8660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포인트는 전부 코드 밖에 있다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086600" y="2286000"/>
            <a:ext cx="448056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행동 변경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0" y="267004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PROMPTS/ · SKILLS/ · AGENTS/ 마크다운 수정 — dev는 핫리로드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86600" y="3310128"/>
            <a:ext cx="448056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도구 추가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0" y="369417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backend/agent/tools/ 에 .py 파일 추가 → 부팅 시 자동 등록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4334256"/>
            <a:ext cx="448056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노출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0" y="471830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의 APP_ALLOWED_LIBRARIES 한 줄 → 런타임·EXE 번들 동시 반영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86600" y="5358384"/>
            <a:ext cx="448056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5449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이름 변경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0" y="574243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의 APP_NAME 하나 — spec과 release.ps1이 이 값을 읽음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모드 vs 패키징 모드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코드가 두 모드로 동작 — 분기 기준은 sys.frozen (PyInstaller 여부) 하나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97680"/>
                <a:gridCol w="4343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 (개발)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frozen (배포 EXE)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Vite dev server (localhost:5173, HMR)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EXE에 내장된 web/ 정적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포트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.env의 APP_DEV_PORT 고정 (기본 8765)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OS가 빈 포트를 동적 할당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연결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Vite가 /api 를 백엔드로 프록시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origin — 프록시 불필요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PROMPTS/SKILLS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55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핫리로드 (다음 턴부터 반영)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빌드 시점 박제 — 재빌드 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Ctrl + 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닫기 → watchdog 자동 종료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709160"/>
            <a:ext cx="10927080" cy="1325880"/>
          </a:xfrm>
          <a:prstGeom prst="roundRect">
            <a:avLst>
              <a:gd name="adj" fmla="val 5517"/>
            </a:avLst>
          </a:prstGeom>
          <a:solidFill>
            <a:srgbClr val="27261F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837176"/>
            <a:ext cx="1052474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개발 서버 실행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backend/main.py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frontend; npm run dev          # → http://localhost:5173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&amp; 릴리즈 파이프라인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pwsh packaging/release.ps1 한 줄이 전체를 수행 — 사전 검사: git clean 확인 + .env 로드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693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동기화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 → backend/_version.py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46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4597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빌드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459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→ build/web/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36392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226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Updater 빌드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136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PyInstaller → build/updater/Updater.exe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81304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9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813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EXE 빌드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3813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PyInstaller → release/{AppName}.exe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489704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759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48970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생성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63240" y="44897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sha256·크기 계산 → release/latest.json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516636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1526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5166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(선택)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6324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-Upload 시 Nexus로 — EXE 먼저, json 마지막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0" y="1783080"/>
            <a:ext cx="470916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1938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App.spec이 EXE에 내장하는 것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14032" y="23317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build/web/ — 프론트 정적 자산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Updater.exe — 자가 교체 헬퍼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 SKILLS/ AGENTS/ — 파일 추가만으로 다음 빌드 반영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— 빌드 시점 설정 박제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backend/scripts/ — 서브모듈 자동 수집</a:t>
            </a:r>
            <a:endParaRPr lang="en-US" sz="10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APP_ALLOWED_LIBRARIES의 각 패키지 — env 한 줄 = 번들 자동 포함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5029200"/>
            <a:ext cx="4709160" cy="1005840"/>
          </a:xfrm>
          <a:prstGeom prst="roundRect">
            <a:avLst>
              <a:gd name="adj" fmla="val 6364"/>
            </a:avLst>
          </a:prstGeom>
          <a:solidFill>
            <a:srgbClr val="F3E3D9"/>
          </a:solidFill>
          <a:ln/>
        </p:spPr>
      </p:sp>
      <p:sp>
        <p:nvSpPr>
          <p:cNvPr id="35" name="Text 33"/>
          <p:cNvSpPr/>
          <p:nvPr/>
        </p:nvSpPr>
        <p:spPr>
          <a:xfrm>
            <a:off x="7114032" y="51389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순서가 중요한 이유 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latest.json이 먼저 올라가면 클라이언트가 아직 없는 EXE(404)를 받으려 시도할 수 있다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업데이트 — 4단계 자가 교체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재설치 없이 새 버전 도달 — 다운로드 무결성(sha256)과 실행 파일 잠금 문제를 모두 처리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4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1828800"/>
            <a:ext cx="103327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82880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8869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Nexus의 latest.json GET (5분 캐시) — URL·sha256 형식 검증 실패 시 조용히 무시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79776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660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4440" y="2670048"/>
            <a:ext cx="103327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2670048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60320" y="2670048"/>
            <a:ext cx="8869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EXE 스트리밍 다운로드 → sha256 검증 → .new.exe 스테이징 → Updater 분리 실행 후 서버 자진 종료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21024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073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34440" y="3511296"/>
            <a:ext cx="103327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3511296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560320" y="3511296"/>
            <a:ext cx="8869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Updater.exe가 부모 프로세스 종료를 폴링 (최대 60초 + 3초 추가 유예)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6227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485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34440" y="4352544"/>
            <a:ext cx="103327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4352544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560320" y="4352544"/>
            <a:ext cx="8869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rename-to-backup: 현재→.old → new→현재 → 재기동 / 실패 시 .old 복원 (롤백)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927080" cy="914400"/>
          </a:xfrm>
          <a:prstGeom prst="roundRect">
            <a:avLst>
              <a:gd name="adj" fmla="val 7000"/>
            </a:avLst>
          </a:prstGeom>
          <a:solidFill>
            <a:srgbClr val="F0EEE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458968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직접 덮어쓰지 않고 rename-to-backup인가 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종료된 EXE의 잔존 파일 잠금 + 백신 스캔 때문에 직접 교체는 ACCESS_DENIED가 발생한다. rename은 잠긴 파일에도 허용되므로 30회 × 0.5초 재시도로 안전하게 교체한다.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 — .env 단일 진실 공급원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27261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82496"/>
            <a:ext cx="47183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─┬─ backend (load_dotenv)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vite.config.js  dev 프록시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App.spec  EXE 이름·번들 결정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 release.ps1  자격증명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55448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0EEE6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719072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frozen EXE의 .env 우선순위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시 박제된 .env를 override=False로 읽으므로 OS 환경 변수가 있으면 그쪽이 우선 — 임시 오버라이드는 가능, 근본 변경은 재빌드.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10128"/>
          <a:ext cx="10927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25880"/>
                <a:gridCol w="6309360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APP_NAME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MyAgent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 파일명·%APPDATA% 폴더 — 앱 이름 변경은 이 값 하나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APP_DEV_PORT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8765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 전용 백엔드 포트 (frozen은 동적 할당이라 무관)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APP_LLM_PROVIDER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mock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기동 시 settings.json 시드 (mock·dtgpt·openai_compatible)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APP_MAX_AGENT_ITERATIONS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턴당 provider→도구 반복 상한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APP_MAX_AGENT_CALLS_PER_TURN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오케스트레이터+서브 합산 LLM 호출 예산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APP_TOOL_DEFAULT_TIMEOUT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1회 실행 타임아웃 (초)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APP_ALLOWED_LIBRARIES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scripts,polars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에이전트에 노출할 패키지 CSV — EXE 빌드 시 자동 번들링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APP_REPO_BASE_URL / _USER / _PASSWORD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저장소 URL·업로드 자격증명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61996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이외 생명주기(GRACE)·생성 파라미터·캐시 TTL 등 — 전체 목록: backend/core/config.py · backend/agent/config.py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전체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PROMPTS · SKILLS · AGENTS — 코드 수정 없는 확장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“행동”은 Python 코드가 아니라 마크다운 파일로 정의된다 — 빌드 시 EXE에 자동 번들링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19659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954987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헌법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441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턴에 항상 적용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정체성·응답 스타일·안전 규칙·라우팅 원칙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566160"/>
            <a:ext cx="3063240" cy="0"/>
          </a:xfrm>
          <a:prstGeom prst="line">
            <a:avLst/>
          </a:prstGeom>
          <a:noFill/>
          <a:ln w="12700">
            <a:solidFill>
              <a:srgbClr val="E5E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8503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→ safety → orchestrator(AGENTS 있을 때) → domain 순으로 합성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407408" y="1783080"/>
            <a:ext cx="352044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56248" y="19659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1954987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매뉴얼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36008" y="2441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키워드 매칭 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36008" y="2788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작업의 절차·필수 입력·금지 사항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36008" y="3566160"/>
            <a:ext cx="3063240" cy="0"/>
          </a:xfrm>
          <a:prstGeom prst="line">
            <a:avLst/>
          </a:prstGeom>
          <a:noFill/>
          <a:ln w="12700">
            <a:solidFill>
              <a:srgbClr val="E5E2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368503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배열 부분 매칭, 최대 3개 동시 · /이름 으로 강제 활성화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174736" y="1783080"/>
            <a:ext cx="352044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3336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323576" y="19659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576" y="1954987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프로필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03336" y="2441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오케스트레이터가 위임할 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03336" y="2788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페르소나·전담 스킬·도구 권한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03336" y="3566160"/>
            <a:ext cx="3063240" cy="0"/>
          </a:xfrm>
          <a:prstGeom prst="line">
            <a:avLst/>
          </a:prstGeom>
          <a:noFill/>
          <a:ln w="12700">
            <a:solidFill>
              <a:srgbClr val="E5E2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336" y="368503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매핑 = 자동 위임(Case 3) · tools 화이트리스트 · 격리 실행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40080" y="5029200"/>
            <a:ext cx="6766560" cy="1234440"/>
          </a:xfrm>
          <a:prstGeom prst="roundRect">
            <a:avLst>
              <a:gd name="adj" fmla="val 5185"/>
            </a:avLst>
          </a:prstGeom>
          <a:solidFill>
            <a:srgbClr val="F0EEE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157216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정책   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메타데이터(Front Matter)는 부팅 시 1회, 본문은 필요할 때 lazy 로드.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dev는 mtime 기반 핫리로드 — 서버 재시작 없이 다음 턴부터 반영. frozen은 빌드 시 박제.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35240" y="5029200"/>
            <a:ext cx="3931920" cy="1234440"/>
          </a:xfrm>
          <a:prstGeom prst="roundRect">
            <a:avLst>
              <a:gd name="adj" fmla="val 5185"/>
            </a:avLst>
          </a:prstGeom>
          <a:solidFill>
            <a:srgbClr val="F3E3D9"/>
          </a:solidFill>
          <a:ln/>
        </p:spPr>
      </p:sp>
      <p:sp>
        <p:nvSpPr>
          <p:cNvPr id="34" name="Text 32"/>
          <p:cNvSpPr/>
          <p:nvPr/>
        </p:nvSpPr>
        <p:spPr>
          <a:xfrm>
            <a:off x="7891272" y="515721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내용물은 Mock이다 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SKILLS·AGENTS·scripts는 LLM 없이 하니스/UI를 검증하기 위한 것 — 운영 시 도메인 파일로 교체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1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927080" y="640080"/>
            <a:ext cx="384048" cy="384048"/>
          </a:xfrm>
          <a:prstGeom prst="star12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spc="300" kern="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0" y="17373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31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3000" dirty="0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구현된 UX / UI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76656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사용자가 만나는 화면과 기능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레이아웃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17420" y="4023360"/>
            <a:ext cx="1092708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2" name="Text 10"/>
          <p:cNvSpPr/>
          <p:nvPr/>
        </p:nvSpPr>
        <p:spPr>
          <a:xfrm>
            <a:off x="2217420" y="4012387"/>
            <a:ext cx="109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세션·입력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40233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401238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가시화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3752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6" name="Text 14"/>
          <p:cNvSpPr/>
          <p:nvPr/>
        </p:nvSpPr>
        <p:spPr>
          <a:xfrm>
            <a:off x="4873752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타임라인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14516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 패널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인터랙션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96044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2" name="Text 20"/>
          <p:cNvSpPr/>
          <p:nvPr/>
        </p:nvSpPr>
        <p:spPr>
          <a:xfrm>
            <a:off x="9496044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설정·업데이트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036808" y="4023360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4" name="Text 22"/>
          <p:cNvSpPr/>
          <p:nvPr/>
        </p:nvSpPr>
        <p:spPr>
          <a:xfrm>
            <a:off x="11036808" y="4012387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Mock 시나리오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전체 레이아웃 — 3단 구성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92024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Sidebar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03911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28139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새 대화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요약 분석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보고서</a:t>
            </a:r>
            <a:endParaRPr lang="en-US" sz="8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인사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4480560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F0EEE6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45262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ModelPicker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dtgpt / gpt-4o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0" y="1600200"/>
            <a:ext cx="521208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709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TopBar — 현재 세션 제목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020824"/>
            <a:ext cx="5212080" cy="0"/>
          </a:xfrm>
          <a:prstGeom prst="line">
            <a:avLst/>
          </a:prstGeom>
          <a:noFill/>
          <a:ln w="12700">
            <a:solidFill>
              <a:srgbClr val="E5E2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67128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F0EEE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167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— 데이터 요약해줘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2770632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AF9F5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898648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assistant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[스킬 뱃지]  [작업 타임라인]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[TodoProgress 체크리스트]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(마크다운 렌더링)…</a:t>
            </a:r>
            <a:endParaRPr lang="en-US" sz="8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칩: 차트 6개 · 데이터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0" y="4599432"/>
            <a:ext cx="484632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5240">
            <a:solidFill>
              <a:srgbClr val="D9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459943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Composer — Enter 전송 · Shift+Enter 줄바꿈 · / 스킬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38160" y="1600200"/>
            <a:ext cx="2743200" cy="3657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709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Artifact Panel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75320" y="20574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2046427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55480" y="20574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7" name="Text 25"/>
          <p:cNvSpPr/>
          <p:nvPr/>
        </p:nvSpPr>
        <p:spPr>
          <a:xfrm>
            <a:off x="9555480" y="2046427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75320" y="245973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2448763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55480" y="245973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31" name="Text 29"/>
          <p:cNvSpPr/>
          <p:nvPr/>
        </p:nvSpPr>
        <p:spPr>
          <a:xfrm>
            <a:off x="9555480" y="2448763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75320" y="2971800"/>
            <a:ext cx="2468880" cy="2057400"/>
          </a:xfrm>
          <a:prstGeom prst="roundRect">
            <a:avLst>
              <a:gd name="adj" fmla="val 3111"/>
            </a:avLst>
          </a:prstGeom>
          <a:solidFill>
            <a:srgbClr val="F0EEE6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3063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칩 콘텐츠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(갤러리 · ECharts 그리드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마크다운 · 테이블)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55280" y="53126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⟷ 드래그 리사이즈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5577840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F0EEE6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57784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산출물은 채팅에 섞이지 않는다  </a:t>
            </a:r>
            <a:pPr indent="0" marL="0"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이미지·차트·보고서·데이터는 우측 패널에 표시되고, 말풍선에는 칩만 남아 언제든 다시 열 수 있다 (세션 복귀 후에도 보존)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관리 &amp; 입력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190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세션(대화) 관리 — Sidebar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214884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방법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대화 / 전환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· 행 클릭 (LLM 컨텍스트도 함께 복원)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변경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더블클릭 → 인라인 편집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hover 시 버튼 — 백엔드 히스토리도 삭제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제목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메시지 기반 생성 (수동 변경 시 보존)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그룹핑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/ 어제 / 이번 주 버킷 정렬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96112" y="4709160"/>
            <a:ext cx="4846320" cy="914400"/>
          </a:xfrm>
          <a:prstGeom prst="roundRect">
            <a:avLst>
              <a:gd name="adj" fmla="val 7000"/>
            </a:avLst>
          </a:prstGeom>
          <a:solidFill>
            <a:srgbClr val="F3E3D9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 + 안전장치 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세션은 localStorage 저장 — 앱을 껐다 켜도 유지. 응답 생성 중엔 전환·삭제·새 대화 차단 (교차 저장 사고 방지)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1554480"/>
            <a:ext cx="534924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17190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입력 — Composer</a:t>
            </a:r>
            <a:endParaRPr lang="en-US" sz="14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214884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전송 / 줄바꿈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Enter / Shift + Enter (입력창 자동 확장)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중단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정지 버튼 · ESC — 받은 데까지 “중단됨”으로 저장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슬래시 커맨드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 입력 → SKILL 자동완성 → 그 턴에 강제 활성화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되감기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user 메시지 시점으로 잘라내고 재작성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473952" y="420624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27261F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4297680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/data_summary  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“데이터 요약” 스킬이 무조건 적용된 상태로 전송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73952" y="4937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표시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user는 plain text, assistant는 마크다운(marked + DOMPurify XSS 방어 + 코드 하이라이트). SSE로 토큰 단위 실시간 스트리밍, 완료 후 소요 시간 표시.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진행의 실시간 가시화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채팅과의 차별점 — 에이전트가 지금 무엇을 하는지 항상 보인다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02920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11680"/>
            <a:ext cx="4480560" cy="502920"/>
          </a:xfrm>
          <a:prstGeom prst="roundRect">
            <a:avLst>
              <a:gd name="adj" fmla="val 49091"/>
            </a:avLst>
          </a:prstGeom>
          <a:solidFill>
            <a:srgbClr val="F0EEE6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2194560"/>
            <a:ext cx="146304" cy="14630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실행 중…   12초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TurnStatus — 펄스 점 + 상황별 문구 + 경과 시간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480560" cy="1554480"/>
          </a:xfrm>
          <a:prstGeom prst="roundRect">
            <a:avLst>
              <a:gd name="adj" fmla="val 4118"/>
            </a:avLst>
          </a:prstGeom>
          <a:solidFill>
            <a:srgbClr val="FAF9F5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진행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15568" y="3438144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E8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데이터 조회 — 1,234행 조회 완료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E8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통계 산출 — 평균·분산 계산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차트 생성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6451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TodoProgress — 단계별 상태 + 한 줄 결과 요약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50292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1822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data_summary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0360" y="5029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7EDE4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501822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8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작업 완료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SkillBadge / SkillCompleteBadge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1828800"/>
            <a:ext cx="5623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920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TurnStatus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81344" y="219456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중 말풍선 하단 — 도구 실행/에이전트 작업/추론/응답 생성 4가지 문구를 진행 상태에서 자동 선택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880360"/>
            <a:ext cx="5623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2971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TodoProgress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81344" y="32461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add_todo로 계획 등록 → 체크리스트 실시간 갱신 (완료·실패·건너뜀 + 요약)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931920"/>
            <a:ext cx="5623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4023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뱃지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81344" y="429768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시작 즉시 어떤 작업 지침(SKILL)이 적용됐는지 표시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4983480"/>
            <a:ext cx="5623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5074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표식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81344" y="53492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마커 + hover 시 소요 시간 — ESC 중단 메시지에는 미표시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활동 타임라인 — 세그먼트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4864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4937760" cy="548640"/>
          </a:xfrm>
          <a:prstGeom prst="roundRect">
            <a:avLst>
              <a:gd name="adj" fmla="val 11667"/>
            </a:avLst>
          </a:prstGeom>
          <a:solidFill>
            <a:srgbClr val="F0EEE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추론 — “데이터 범위를 먼저 확인해야…”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FAF9F5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exec_code — 완료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182112"/>
            <a:ext cx="4937760" cy="1783080"/>
          </a:xfrm>
          <a:prstGeom prst="roundRect">
            <a:avLst>
              <a:gd name="adj" fmla="val 3590"/>
            </a:avLst>
          </a:prstGeom>
          <a:solidFill>
            <a:srgbClr val="FAF9F5"/>
          </a:solidFill>
          <a:ln w="1524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🔄 orchestrator → analyst_agent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36393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exec_code 실행 중…</a:t>
            </a:r>
            <a:endParaRPr lang="en-US" sz="9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E8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통계 산출 완료</a:t>
            </a:r>
            <a:endParaRPr lang="en-US" sz="9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반환 — “분석 완료. 이상치 3건 발견.”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4690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트레일 — 내부 도구·todo가 실시간으로 채워짐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5120640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FAF9F5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🔄 analyst_agent (진행 중)   🔄 writer_agent (진행 중)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55595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위임 — 트레일 여러 개가 동시에 진행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166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7033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세그먼트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LLM의 중간 판단 설명 — 접이식 블록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도구명 + running → 완료/에러 상태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위임 트레일 — 내부 활동 실시간 + 완료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400800" y="3429000"/>
            <a:ext cx="5166360" cy="1463040"/>
          </a:xfrm>
          <a:prstGeom prst="roundRect">
            <a:avLst>
              <a:gd name="adj" fmla="val 4375"/>
            </a:avLst>
          </a:prstGeom>
          <a:solidFill>
            <a:srgbClr val="F0EEE6"/>
          </a:solidFill>
          <a:ln/>
        </p:spPr>
      </p:sp>
      <p:sp>
        <p:nvSpPr>
          <p:cNvPr id="20" name="Text 17"/>
          <p:cNvSpPr/>
          <p:nvPr/>
        </p:nvSpPr>
        <p:spPr>
          <a:xfrm>
            <a:off x="6656832" y="359359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위임의 정확한 라우팅 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call_sub_agents_parallel 시 트레일 여러 개가 인터리브되어 진행 — 같은 이름의 에이전트 2개가 동시에 떠도 dispatch_id 상관키로 각자의 트레일에 정확히 매칭된다.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0" y="51206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말풍선 안에 본문 텍스트 외에 활동 세그먼트가 시간 순으로 쌓인다 — 응답이 “어떻게 만들어졌는지”가 그대로 기록으로 남는다.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되묻기 — AskUserCard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기간의 보고서를 생성할까요?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03627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21408" y="2514600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11" name="Text 9"/>
          <p:cNvSpPr/>
          <p:nvPr/>
        </p:nvSpPr>
        <p:spPr>
          <a:xfrm>
            <a:off x="2121408" y="2503627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28416" y="2514600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2503627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35424" y="2514600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/>
        </p:spPr>
      </p:sp>
      <p:sp>
        <p:nvSpPr>
          <p:cNvPr id="15" name="Text 13"/>
          <p:cNvSpPr/>
          <p:nvPr/>
        </p:nvSpPr>
        <p:spPr>
          <a:xfrm>
            <a:off x="4535424" y="2503627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 또는 입력창에 직접 입력 — 답변하면 작업이 이어진다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input_type 3가지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4340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choice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선택지 버튼만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클릭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텍스트만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both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+ 입력 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492240" y="17373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 경로는 2가지 — 사용자에겐 같은 카드로 보인다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92240" y="2240280"/>
            <a:ext cx="50749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2404872"/>
            <a:ext cx="347472" cy="34747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2" name="Text 19"/>
          <p:cNvSpPr/>
          <p:nvPr/>
        </p:nvSpPr>
        <p:spPr>
          <a:xfrm>
            <a:off x="6720840" y="23911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05472" y="24048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LLM의 능동 질문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058400" y="240487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5" name="Text 22"/>
          <p:cNvSpPr/>
          <p:nvPr/>
        </p:nvSpPr>
        <p:spPr>
          <a:xfrm>
            <a:off x="10058400" y="2393899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ask_user 도구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720840" y="280720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모호할 때 — “데이터 보여줘”처럼 대상·기간을 단정할 수 없으면 도구 호출 전에 먼저 묻는다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92240" y="3657600"/>
            <a:ext cx="50749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20840" y="3822192"/>
            <a:ext cx="347472" cy="34747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6"/>
          <p:cNvSpPr/>
          <p:nvPr/>
        </p:nvSpPr>
        <p:spPr>
          <a:xfrm>
            <a:off x="6720840" y="38084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05472" y="3822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가드 자동 발동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058400" y="382219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32" name="Text 29"/>
          <p:cNvSpPr/>
          <p:nvPr/>
        </p:nvSpPr>
        <p:spPr>
          <a:xfrm>
            <a:off x="10058400" y="3811219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인자 검증 레이어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720840" y="422452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실행에 필수 인자가 빠졌을 때 자동으로 질문 — 답변하면 같은 도구를 자동 재시도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492240" y="5166360"/>
            <a:ext cx="5074920" cy="777240"/>
          </a:xfrm>
          <a:prstGeom prst="roundRect">
            <a:avLst>
              <a:gd name="adj" fmla="val 8235"/>
            </a:avLst>
          </a:prstGeom>
          <a:solidFill>
            <a:srgbClr val="F0EEE6"/>
          </a:solidFill>
          <a:ln/>
        </p:spPr>
      </p:sp>
      <p:sp>
        <p:nvSpPr>
          <p:cNvPr id="35" name="Text 32"/>
          <p:cNvSpPr/>
          <p:nvPr/>
        </p:nvSpPr>
        <p:spPr>
          <a:xfrm>
            <a:off x="6720840" y="51663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묻는 동안 턴은 안전하게 중단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질문이 상태로 저장되고, 다음 턴에 답변과 함께 작업이 재개된다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 패널 — 산출물 칩 4종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8308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72107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이미지 N장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18196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31343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갤러리 — 6장씩 lazy load 무한 스크롤, 클릭 시 라이트박스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8308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72107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차트 N개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18196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ArtifactChart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231343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ECharts 반응형 그리드 — 페이지당 최대 6개 + 페이지네이션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081528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264408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53435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문서 제목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88920" y="3300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ArtifactMarkdown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7947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보고서 렌더링 — 채팅과 동일한 sanitize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081528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264408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253435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(parquet)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66760" y="3300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7947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10행 미리보기 테이블 + 행×열·크기 메타 + 전체 CSV 다운로드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공통 UX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리사이즈 — 최대 1000px (와이드 테이블 대응), 설정은 localStorage에 기억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display 계열 칩은 생성 즉시 패널 자동 오픈 — 칩 클릭으로 언제든 재오픈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칩은 자동 오픈하지 않음 — 빈번한 중간 저장마다 패널이 튀는 것 방지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0" y="4709160"/>
            <a:ext cx="3794760" cy="1554480"/>
          </a:xfrm>
          <a:prstGeom prst="roundRect">
            <a:avLst>
              <a:gd name="adj" fmla="val 4118"/>
            </a:avLst>
          </a:prstGeom>
          <a:solidFill>
            <a:srgbClr val="F3E3D9"/>
          </a:solidFill>
          <a:ln/>
        </p:spPr>
      </p:sp>
      <p:sp>
        <p:nvSpPr>
          <p:cNvPr id="29" name="Text 27"/>
          <p:cNvSpPr/>
          <p:nvPr/>
        </p:nvSpPr>
        <p:spPr>
          <a:xfrm>
            <a:off x="8028432" y="48463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 참조 삽입 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칩·패널의 @ 버튼 → 산출물 경로가 입력창에 삽입. “이 데이터로 이어서 분석해줘”를 클릭 한 번으로 — 과거 세션 산출물도 이어서 작업 가능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인터랙션 — 보기를 넘어 데이터 탐색 도구로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확대 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차트 셀 클릭 → 라이트박스 (핸들 드래그로 크기 조절)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차트 간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← / → 방향키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brush 드래그 (scatter·line·ecdf 등 행 단위 차트)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제외 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Filter (이 차트만) / Filter All (같은 데이터 전체)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제외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레전드 패널 체크 → 같은 Filter 버튼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Undo / Redo / Reset — 필터·레전드를 하나의 히스토리로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1645920"/>
            <a:ext cx="484632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Legend 편집 패널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67728" y="21488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⠿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96912" y="2231136"/>
            <a:ext cx="164592" cy="16459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8"/>
          <p:cNvSpPr/>
          <p:nvPr/>
        </p:nvSpPr>
        <p:spPr>
          <a:xfrm>
            <a:off x="7571232" y="2148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966960" y="21488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35640" y="21488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67728" y="26060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⠿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96912" y="2688336"/>
            <a:ext cx="164592" cy="164592"/>
          </a:xfrm>
          <a:prstGeom prst="ellipse">
            <a:avLst/>
          </a:prstGeom>
          <a:solidFill>
            <a:srgbClr val="6E8B68"/>
          </a:solidFill>
          <a:ln/>
        </p:spPr>
      </p:sp>
      <p:sp>
        <p:nvSpPr>
          <p:cNvPr id="16" name="Text 13"/>
          <p:cNvSpPr/>
          <p:nvPr/>
        </p:nvSpPr>
        <p:spPr>
          <a:xfrm>
            <a:off x="7571232" y="2606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B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966960" y="26060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35640" y="26060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67728" y="30632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⠿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96912" y="3145536"/>
            <a:ext cx="164592" cy="164592"/>
          </a:xfrm>
          <a:prstGeom prst="ellipse">
            <a:avLst/>
          </a:prstGeom>
          <a:solidFill>
            <a:srgbClr val="8B7355"/>
          </a:solidFill>
          <a:ln/>
        </p:spPr>
      </p:sp>
      <p:sp>
        <p:nvSpPr>
          <p:cNvPr id="21" name="Text 18"/>
          <p:cNvSpPr/>
          <p:nvPr/>
        </p:nvSpPr>
        <p:spPr>
          <a:xfrm>
            <a:off x="7571232" y="3063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C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966960" y="30632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숨김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35640" y="30632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949440" y="35661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순서 변경 · 색상 클릭 변경 · 표시/숨김 · Filter 선택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720840" y="4160520"/>
            <a:ext cx="4846320" cy="1920240"/>
          </a:xfrm>
          <a:prstGeom prst="roundRect">
            <a:avLst>
              <a:gd name="adj" fmla="val 3333"/>
            </a:avLst>
          </a:prstGeom>
          <a:solidFill>
            <a:srgbClr val="F0EEE6"/>
          </a:solidFill>
          <a:ln/>
        </p:spPr>
      </p:sp>
      <p:sp>
        <p:nvSpPr>
          <p:cNvPr id="26" name="Text 23"/>
          <p:cNvSpPr/>
          <p:nvPr/>
        </p:nvSpPr>
        <p:spPr>
          <a:xfrm>
            <a:off x="6967728" y="4325112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 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그리드와 라이트박스가 같은 캐시를 공유 — 어느 쪽에서 편집해도 양쪽 동시 갱신.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상태는 서버 파일로 영속 — 세션을 나갔다 와도 유지되고 Undo로 언제든 복원. 데이터 원본(parquet)은 불변.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0080" y="4617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brush 선택 → Filter → 즉시 재집계·재렌더 — “이상치를 빼고 다시 보자”가 대화 없이 클릭으로 끝난다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· 업데이트 · 테마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9270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282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설정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746504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SettingsModal — 프로바이더(mock·dtgpt·openai_compatible)·모델·API Key·Base URL + 연결 테스트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ModelPicker — 사이드바 하단 드롭업으로 빠른 모델 전환 (목록 5분 캐시, 5개 초과 시 검색창)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즉시 적용 — 서버 재시작 없이 다음 메시지부터 (provider hot-swap)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109270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644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처리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3282696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키는 백엔드 settings.json에만 저장 — 브라우저에 절대 저장하지 않음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시 항상 마스킹 (sk-p••••4f2a) — 입력 필드는 placeholder로만 흔적 표시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프로바이더 전환 시에도 이전 프로바이더 설정은 슬롯에 보존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672584"/>
            <a:ext cx="109270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00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UX &amp; 테마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4818888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버전 감지 → 상단 배너 → 클릭 한 번 → 진행률 모달(다운로드·검증) → 자동 교체·재기동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자동 롤백 — 기존 버전이 다시 뜬다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라이트/다크 테마 토글 (CSS 변수 토큰 — 전 컴포넌트 즉시 반영) · 모바일 사이드바 접힘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UX/UI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체험 — Mock 시나리오 (데모 대본)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LLM 없이(provider: mock) 아래 입력만으로 위 UI 기능 전부를 시연할 수 있다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270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286000"/>
                <a:gridCol w="58064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체험하는 UI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(아무 문장)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 echo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스트리밍, TurnStatus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추천해줘 · 골라줘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 ask_user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ReasoningBlock, AskUserCard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지금 시간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C. time_check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뱃지, 마크다운 산출물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데이터 요약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D. data_summary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에이전트 트레일, TodoProgress, 차트 6개 + 레전드 편집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전체 분석 보고서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E. composite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 위임, 차트 7개 + 이미지 갤러리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병렬 분석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F. parallel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트레일 2개 동시 진행 (병렬 위임)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이전 결과  (D 이후)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G. artifact 재사용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산출물 재발견 → 이어서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상세 흐름: docs/mock-scenarios.md — 데모·스크린샷 촬영 시 이 표를 그대로 따라 하면 된다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1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927080" y="640080"/>
            <a:ext cx="384048" cy="384048"/>
          </a:xfrm>
          <a:prstGeom prst="star12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spc="300" kern="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0" y="17373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31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3000" dirty="0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동작 흐름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76656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기동부터 채팅 한 턴이 처리되는 전 과정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" y="40233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401238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책임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75688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2" name="Text 10"/>
          <p:cNvSpPr/>
          <p:nvPr/>
        </p:nvSpPr>
        <p:spPr>
          <a:xfrm>
            <a:off x="2075688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기동·생명주기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16452" y="40233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4" name="Text 12"/>
          <p:cNvSpPr/>
          <p:nvPr/>
        </p:nvSpPr>
        <p:spPr>
          <a:xfrm>
            <a:off x="3616452" y="401238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지도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15484" y="4023360"/>
            <a:ext cx="1092708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6" name="Text 14"/>
          <p:cNvSpPr/>
          <p:nvPr/>
        </p:nvSpPr>
        <p:spPr>
          <a:xfrm>
            <a:off x="5015484" y="4012387"/>
            <a:ext cx="109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지도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402336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4012387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run_turn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40233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4012387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이벤트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96044" y="40233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2" name="Text 20"/>
          <p:cNvSpPr/>
          <p:nvPr/>
        </p:nvSpPr>
        <p:spPr>
          <a:xfrm>
            <a:off x="9496044" y="401238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라우팅·위임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895076" y="4023360"/>
            <a:ext cx="1943100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4" name="Text 22"/>
          <p:cNvSpPr/>
          <p:nvPr/>
        </p:nvSpPr>
        <p:spPr>
          <a:xfrm>
            <a:off x="10895076" y="4012387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Registry·도구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3002768" y="4023360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6" name="Text 24"/>
          <p:cNvSpPr/>
          <p:nvPr/>
        </p:nvSpPr>
        <p:spPr>
          <a:xfrm>
            <a:off x="13002768" y="4012387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파이프라인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4826996" y="402336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353331"/>
          </a:solidFill>
          <a:ln/>
        </p:spPr>
      </p:sp>
      <p:sp>
        <p:nvSpPr>
          <p:cNvPr id="28" name="Text 26"/>
          <p:cNvSpPr/>
          <p:nvPr/>
        </p:nvSpPr>
        <p:spPr>
          <a:xfrm>
            <a:off x="14826996" y="4012387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백엔드의 5가지 책임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API 서버가 아니라, 데스크탑 앱의 모든 서버 측 역할을 겸한다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436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89888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서빙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Svelte SPA · 산출물 파일 제공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20040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89427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(StaticFiles)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07408" y="182880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008" y="205740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20436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57216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API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36008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채팅·설정·산출물·차트 REST/SSE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36008" y="320040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0" name="Text 18"/>
          <p:cNvSpPr/>
          <p:nvPr/>
        </p:nvSpPr>
        <p:spPr>
          <a:xfrm>
            <a:off x="4636008" y="3189427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74736" y="182880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03336" y="205740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8403336" y="20436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24544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하니스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403336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↔ 도구 실행 루프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03336" y="320040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27" name="Text 25"/>
          <p:cNvSpPr/>
          <p:nvPr/>
        </p:nvSpPr>
        <p:spPr>
          <a:xfrm>
            <a:off x="8403336" y="3189427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93192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1605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146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89888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생명주기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68680" y="4709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연동 자동 기동·종료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" y="530352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292547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core/browser.py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07408" y="393192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36008" y="41605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7" name="Text 35"/>
          <p:cNvSpPr/>
          <p:nvPr/>
        </p:nvSpPr>
        <p:spPr>
          <a:xfrm>
            <a:off x="4636008" y="4146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57216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업데이트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636008" y="4709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확인·다운로드·자가 교체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36008" y="530352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/>
        </p:spPr>
      </p:sp>
      <p:sp>
        <p:nvSpPr>
          <p:cNvPr id="41" name="Text 39"/>
          <p:cNvSpPr/>
          <p:nvPr/>
        </p:nvSpPr>
        <p:spPr>
          <a:xfrm>
            <a:off x="4636008" y="5292547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core/updater.py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07408" y="3931920"/>
            <a:ext cx="7159752" cy="1874520"/>
          </a:xfrm>
          <a:prstGeom prst="roundRect">
            <a:avLst>
              <a:gd name="adj" fmla="val 3415"/>
            </a:avLst>
          </a:prstGeom>
          <a:solidFill>
            <a:srgbClr val="F0EEE6"/>
          </a:solidFill>
          <a:ln/>
        </p:spPr>
      </p:sp>
      <p:sp>
        <p:nvSpPr>
          <p:cNvPr id="43" name="Text 41"/>
          <p:cNvSpPr/>
          <p:nvPr/>
        </p:nvSpPr>
        <p:spPr>
          <a:xfrm>
            <a:off x="4681728" y="4224528"/>
            <a:ext cx="6629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파트에서 따라갈 경로  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 시퀀스 → 생명주기 → API 지도 → 모듈 지도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채팅 한 턴(run_turn) → 라우팅·위임 → Registry·도구 → 산출물 파이프라인 → 안전장치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 시퀀스 &amp; 생명주기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 더블클릭 → 첫 화면까지  (main.py)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522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소켓 바인딩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9659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frozen은 port 0 → OS가 빈 포트 할당 (경합 없음)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83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5420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자기등록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542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 시 @register_tool 데코레이터가 레지스트리 채움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18104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43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1181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 로드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1181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PROMPTS·SKILLS·AGENTS 메타 1회 + 교차 검증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04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6941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 등록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694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/api/* — SPA catch-all보다 먼저 (순서 중요)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270248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565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42702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mount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2702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· /assets · /result · /workspace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8326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4846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데몬 스레드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4846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watchdog(생존 감시) + open_browser(자동 오픈)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542239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4086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54223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server.run()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34640" y="54223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uvicorn 이벤트 루프 시작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1554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Presence &amp; Watchdog — “탭이 곧 전원 스위치”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196596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27261F"/>
          </a:solidFill>
          <a:ln/>
        </p:spPr>
      </p:sp>
      <p:sp>
        <p:nvSpPr>
          <p:cNvPr id="37" name="Text 35"/>
          <p:cNvSpPr/>
          <p:nvPr/>
        </p:nvSpPr>
        <p:spPr>
          <a:xfrm>
            <a:off x="6647688" y="2093976"/>
            <a:ext cx="471830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브라우저                    백엔드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/api/presence ───────→ 연결 = 생존 신호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: ping (30초마다 keepalive)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탭 닫힘 → SSE 종료 ──────→ 2초 유예(F5 흡수)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watchdog: 클라이언트 0명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→ 유예 후 서버 자가 종료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4652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전부 삭제해도 서버 유지 — keepalive 채널로 세션과 생존을 분리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복제는 연결 카운트로 관리 — 마지막 연결이 끊겨야 종료 유예 진입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연결 전엔 STARTUP_GRACE(60초)까지 대기 — 브라우저가 늦게 떠도 안전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API 전체 지도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 7개 — 전 엔드포인트에 Origin 가드 적용 (frozen에서 외부 출처 요청 차단)</a:t>
            </a:r>
            <a:endParaRPr lang="en-US" sz="11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270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572000"/>
                <a:gridCol w="49377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엔드포인트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/api/chat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턴 실행 — SSE 이벤트 스트림 · force_skills(슬래시) 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동기화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/api/conversation/restore · DELETE …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localStorage → 백엔드 컨텍스트 복원(hydrate) · 삭제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/api/presence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SSE 생존 채널 — 생명주기의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GET·POST /api/settings · /models · /test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설정 CRUD(키 마스킹) · 모델 목록 · 연결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/api/skills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 카탈로그 — 슬래시 커맨드 자동완성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/update/check · POST /update/apply · /status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확인 · 적용 · 진행 상태 폴링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/api/chart/filter · GET /filter-state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brush 필터·레전드·undo/redo — 재렌더 결과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/api/artifact/preview · /csv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parquet 미리보기 · CSV 변환 (데이터 칩 전용)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 · /assets · /result · /workspace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 · 빌드 자산 · 에이전트 산출물 · 도구 생성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지도 — backend/ 폴더별 책임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76479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  — 기반 시설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221284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24597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경로·포트의 단일 진실 공급원, frozen/dev 분기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59536" y="308152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" y="332841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presence 카운트·watchdog·자동 오픈·종료 제어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59536" y="395020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result_store.py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9536" y="419709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슬롯 발급·경로 해석·세션 manifest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9536" y="481888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536" y="506577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확인→다운로드→검증→Updater 기동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07408" y="160020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6479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  — HTTP 경계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6864" y="221284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26864" y="24597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SSE·대화 복원/삭제·동시 턴 가드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26864" y="308152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presence.py / skills.py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26864" y="332841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 채널 · SKILL 카탈로그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6864" y="395020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settings.py / update.py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26864" y="419709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CRUD·연결 테스트 · 업데이트 4단계 노출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26864" y="481888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chart.py / artifact.py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26864" y="506577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필터 액션 · parquet 미리보기/CSV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74736" y="160020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176479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  — 하니스 (핵심)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94192" y="221284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94192" y="245973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run_turn — 턴 전 과정 오케스트레이션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94192" y="308152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guard.py / models.py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94192" y="332841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가드 분기 · 전체 데이터 모델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94192" y="395020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providers/ registries/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94192" y="419709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어댑터(mock·openai) · 레지스트리 4종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94192" y="481888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 runtime/ stores/ charts/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94192" y="506577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도구 · 안전 실행 인프라 · 히스토리/상태 · 차트 렌더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5943600"/>
            <a:ext cx="10927080" cy="566928"/>
          </a:xfrm>
          <a:prstGeom prst="roundRect">
            <a:avLst>
              <a:gd name="adj" fmla="val 11290"/>
            </a:avLst>
          </a:prstGeom>
          <a:solidFill>
            <a:srgbClr val="F0EEE6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943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settings/</a:t>
            </a:r>
            <a:pPr indent="0" marL="0"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LLM 설정 저장소 (멀티 프로바이더 슬롯·키 마스킹)    </a:t>
            </a:r>
            <a:pPr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pPr indent="0" marL="0"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에이전트에 노출할 도메인 유틸 패키지    </a:t>
            </a:r>
            <a:pPr indent="0" marL="0">
              <a:buNone/>
            </a:pPr>
            <a:r>
              <a:rPr lang="en-US" sz="1050" b="1" dirty="0">
                <a:solidFill>
                  <a:srgbClr val="2625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pPr indent="0" marL="0">
              <a:buNone/>
            </a:pPr>
            <a:r>
              <a:rPr lang="en-US" sz="10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하니스·가드·산출물 파이프라인 pytest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한 턴의 처리 흐름 — run_turn()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 1건 = run_turn 1회 = 완결된 응답 턴 — 백엔드의 심장부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949440" cy="4526280"/>
          </a:xfrm>
          <a:prstGeom prst="roundRect">
            <a:avLst>
              <a:gd name="adj" fmla="val 1616"/>
            </a:avLst>
          </a:prstGeom>
          <a:solidFill>
            <a:srgbClr val="27261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11096"/>
            <a:ext cx="6547104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/api/chat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[동시 턴 가드] 같은 세션 생성 중이면 즉시 거부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▼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run_turn()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① 상태 로드     todo·pending 복원 (종결 todo는 리셋)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② SKILL 선택    trigger 매칭 또는 슬래시 강제 지정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③ 프롬프트 합성  PROMPTS+SKILL+카탈로그+state+산출물 목록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④ 스킬 뱃지     SkillActiveEvent → 프론트 즉시 표시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⑤ 에이전트 루프  (최대 8회 반복)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provider.astream() — LLM 스트리밍 호출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 delta     → 실시간 타이핑 중계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 tool_call → sentinel? 하니스 직접 처리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슬롯 가드: 누락→사용자 질문 /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   형식 오류→LLM 자가수정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일반 도구 → 실행(timeout) → 결과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 done      → 결과 있으면 루프 계속, 없으면 종료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⑥ 영속화        히스토리 append + 상태 저장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⑦ DoneEvent     정확히 1회 보장 — 스트리밍 종료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863840" y="1828800"/>
            <a:ext cx="37033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01584" y="19385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루프인가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01584" y="22402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“도구 호출 → 결과 확인 → 다음 행동 결정”을 여러 번 거치며 작업을 완성하기 때문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863840" y="3310128"/>
            <a:ext cx="37033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34198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도달 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01584" y="372160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그때까지의 결과로 응급 응답(salvage) — todo 전부 완료면 “완료(예산 소진)”, 아니면 “미완료 주의”로 구분 표시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863840" y="4791456"/>
            <a:ext cx="37033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49011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 절약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01584" y="520293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결과는 현재 턴엔 전문 유지, 히스토리엔 800자 절단 저장 — 다음 턴 컨텍스트 비대화 방지</a:t>
            </a:r>
            <a:endParaRPr lang="en-US" sz="9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이벤트 — 백엔드→프론트 스트리밍 프로토콜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프론트는 이 이벤트만으로 모든 UI를 그린다 — 한 턴 동안 흘러가는 13종</a:t>
            </a:r>
            <a:endParaRPr lang="en-US" sz="11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발생 시점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 반영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skill_active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턴 시작, 스킬 매칭 직후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뱃지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reasoning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중간 판단 설명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ReasoningBlock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delta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토큰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말풍선 실시간 타이핑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tool_call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 시작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카드 (running)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tool_result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완료/실패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종결 + 산출물 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todo_update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add/complete_todo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TodoProgress 갱신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ask_user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입력 필요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AskUserCard + 턴 중단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2120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82880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발생 시점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 반영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agent:switch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에이전트 위임 시작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트레일 카드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agent:progress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내부 진행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트레일 세그먼트 채움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agent:return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완료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트레일 종결 + 요약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skill_complete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todo 전원 종결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뱃지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오류·예산 소진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점선 박스 (초록/빨강)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done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턴 종료 (정확히 1회)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스트리밍 종료·완료 마커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355080" y="502920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F0EEE6"/>
          </a:solidFill>
          <a:ln/>
        </p:spPr>
      </p:sp>
      <p:sp>
        <p:nvSpPr>
          <p:cNvPr id="10" name="Text 6"/>
          <p:cNvSpPr/>
          <p:nvPr/>
        </p:nvSpPr>
        <p:spPr>
          <a:xfrm>
            <a:off x="6601968" y="513892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위임의 상관키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agent:* 이벤트는 dispatch_id를 실어 — 같은 이름 에이전트가 동시에 떠도 프론트가 정확한 트레일로 라우팅한다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라우팅 &amp; 서브 에이전트 위임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라우팅 — Case 0~5  (PROMPTS/orchestrator.md)</a:t>
            </a:r>
            <a:endParaRPr lang="en-US" sz="12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01952"/>
          <a:ext cx="5806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1663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→ 행동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요청이 모호함 → 도구 호출 전에 ask_user로 먼저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일상 대화 → 도구 없이 즉시 텍스트 응답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지명 → 지명된 에이전트에 즉시 위임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트리거 + 전담 에이전트 존재 → 자동 위임 (직접 실행 금지)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D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전담 에이전트 없음 → 오케스트레이터가 직접 도구 실행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응답 → “무엇을/결과/다음 행동” 완료 보고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5262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3가 핵심 — SKILL(무엇을) × AGENT(누가)의 매핑을 설정 파일이 결정한다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6656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방식 — 의존성으로 갈린다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66560" y="1901952"/>
            <a:ext cx="48006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04304" y="2011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call_sub_agent  (순차)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04304" y="23042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작업이 하나거나 앞 결과를 뒤가 사용 — 격리 컨텍스트에서 실행, 완료 요약만 복귀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6766560" y="3072384"/>
            <a:ext cx="48006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04304" y="31821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call_sub_agents_parallel  (병렬)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004304" y="3474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작업 여러 개 동시 실행 (semaphore 상한 3) — 전원 완료 후 요약을 하나로 합쳐 복귀</a:t>
            </a:r>
            <a:endParaRPr lang="en-US" sz="98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4434840"/>
          <a:ext cx="4800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88036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제약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서브의 재위임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4중 방어선 (무한 재귀 차단)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호출 총량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TurnBudget — 합산 상한 20회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에이전트 반복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3회 연속 위임 시 loop-guard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40080" y="5212080"/>
            <a:ext cx="5806440" cy="914400"/>
          </a:xfrm>
          <a:prstGeom prst="roundRect">
            <a:avLst>
              <a:gd name="adj" fmla="val 7000"/>
            </a:avLst>
          </a:prstGeom>
          <a:solidFill>
            <a:srgbClr val="F0EEE6"/>
          </a:solidFill>
          <a:ln/>
        </p:spPr>
      </p:sp>
      <p:sp>
        <p:nvSpPr>
          <p:cNvPr id="18" name="Text 14"/>
          <p:cNvSpPr/>
          <p:nvPr/>
        </p:nvSpPr>
        <p:spPr>
          <a:xfrm>
            <a:off x="896112" y="532180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실행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에이전트는 별도 메시지·별도 상태에서 실행되고 완료 시 요약만 반환 — 메인 컨텍스트 오염을 막는다. 병렬 중 입력이 필요한 작업은 그것만 ‘입력 필요’로 종료 보고.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 4종 &amp; 도구 시스템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“정의 파일 → 런타임 객체” — 메타데이터는 부팅 시 가볍게, 본문은 필요할 때 lazy</a:t>
            </a:r>
            <a:endParaRPr lang="en-US" sz="11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27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3657600"/>
                <a:gridCol w="3246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Registry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로딩 정책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PromptRegistry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PROMPTS/*.md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system prompt 합성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턴 읽기 — dev는 핫리로드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SkillRegistry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SKILLS/*.md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 매칭·슬래시 강제 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 부팅 1회, 본문 첫 매칭 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AgentRegistry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AGENTS/*.md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에이전트 카탈로그·Case 3 매핑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 부팅 1회, 본문 위임 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5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ToolRegistry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@register_tool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스키마·검증기·실행 함수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import 시 자기등록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794760"/>
            <a:ext cx="6035040" cy="2377440"/>
          </a:xfrm>
          <a:prstGeom prst="roundRect">
            <a:avLst>
              <a:gd name="adj" fmla="val 3077"/>
            </a:avLst>
          </a:prstGeom>
          <a:solidFill>
            <a:srgbClr val="27261F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3922776"/>
            <a:ext cx="563270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@register_tool(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description="매출 데이터를 기간으로 조회한다.",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slot_prompts={"date_from": "시작일을 알려주세요"},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timeout_seconds=15)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fetch_sales(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date_from: Annotated[date, "조회 시작일"], ...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ToolResult:  # content=LLM 요약, data=프론트 전달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03720" y="3794760"/>
            <a:ext cx="46634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0" y="38679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가드 — 오류 책임자 분기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32320" y="412394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값 없음 → 사용자에게 질문 / 형식 틀림 → LLM이 같은 턴에 자가수정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903720" y="4636008"/>
            <a:ext cx="46634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47091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스키마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0" y="496519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시그니처(Annotated)에서 JSON Schema + 입력 검증을 한 번에 생성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903720" y="5477256"/>
            <a:ext cx="46634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5550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Sentinel 도구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32320" y="58064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add_todo 등은 하니스가 가로채 처리 — 함수 본문은 절대 실행 안 됨</a:t>
            </a:r>
            <a:endParaRPr lang="en-US" sz="9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도구 카탈로그 — 5그룹 23종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도구를 추가하기 전부터 내장된 도구 전체 (인자 상세: docs/builtin-tools.md)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27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01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계획·상호작용 (Sentinel)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2048256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20345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18928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add_todo · complete_todo · ask_user · activate_skill · call_sub_agent · call_sub_agents_parallel · complete_subagent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89611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하니스가 직접 처리 — 계획 수립·되묻기·위임·종료 보고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840480" y="2304288"/>
            <a:ext cx="745236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3317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하니스가 직접 처리 — 계획 수립·되묻기·위임·종료 보고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40080" y="2670048"/>
            <a:ext cx="10927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저장·재발견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889504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28757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0" y="27340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save_artifact · list_artifacts · load_artifact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96112" y="30540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영속(markdown·json·parquet·바이너리) → 목록 재발견 → 변수로 복원 — 세션을 넘는 재사용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840480" y="3145536"/>
            <a:ext cx="745236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17296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영속(markdown·json·parquet·바이너리) → 목록 재발견 → 변수로 복원 — 세션을 넘는 재사용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40080" y="3511296"/>
            <a:ext cx="10927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584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3730752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3310128" y="37170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0" y="357530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display_image · display_chart · display_markdown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96112" y="38953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 패널로 전달 — 갤러리 · ECharts · 보고서 렌더링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840480" y="3986784"/>
            <a:ext cx="745236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401421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 패널로 전달 — 갤러리 · ECharts · 보고서 렌더링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40080" y="4352544"/>
            <a:ext cx="10927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런타임 메타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0128" y="4572000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32"/>
          <p:cNvSpPr/>
          <p:nvPr/>
        </p:nvSpPr>
        <p:spPr>
          <a:xfrm>
            <a:off x="3310128" y="4558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0" y="44165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inspect_callable · list_module_members · call_function · eval_expression · exec_code · list_namespace · describe_variable · delete_variable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96112" y="47365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api_refs 활성 시 자동 노출 — 외부 Python 라이브러리를 wrapper 없이 동적 사용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3840480" y="4828032"/>
            <a:ext cx="745236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485546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api_refs 활성 시 자동 노출 — 외부 Python 라이브러리를 wrapper 없이 동적 사용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40080" y="5193792"/>
            <a:ext cx="10927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5266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10128" y="541324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2" name="Text 40"/>
          <p:cNvSpPr/>
          <p:nvPr/>
        </p:nvSpPr>
        <p:spPr>
          <a:xfrm>
            <a:off x="3310128" y="5399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40480" y="52578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896112" y="5577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반환 — 등록 패턴 예시 겸용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3840480" y="5669280"/>
            <a:ext cx="745236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569671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반환 — 등록 패턴 예시 겸용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40080" y="6126480"/>
            <a:ext cx="10927080" cy="475488"/>
          </a:xfrm>
          <a:prstGeom prst="roundRect">
            <a:avLst>
              <a:gd name="adj" fmla="val 15385"/>
            </a:avLst>
          </a:prstGeom>
          <a:solidFill>
            <a:srgbClr val="27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6181344"/>
            <a:ext cx="1052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노출 규칙   오케스트레이터=전체−complete_subagent  ·  서브=화이트리스트−위임 도구  ·  list/load_artifacts=항상  ·  메타 8종=api_refs 있을 때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&amp; 차트 파이프라인 — 세션을 넘는 영속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27261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55648"/>
            <a:ext cx="499262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result/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&lt;세션제목&gt;-&lt;id8&gt;/         세션 단위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_artifacts.jsonl      manifest(장부)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&lt;YYYYMMDD-HHmmss&gt;/    턴 단위 슬롯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 data.parquet  charts.spec.json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 charts.json   report.md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재발견 루프 — “지난번 그 데이터로 이어서”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010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4069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save_artifact / exec_code → manifest에 자동 기록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47731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47274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턴 프롬프트에 “Session Artifacts” 목록 주입 — 히스토리가 잘려도 존재를 안다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5431536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4178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54315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53858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list_artifacts → load_artifact(변수 복원) → 후속 분석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16276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파이프라인 — 데이터와 선언의 분리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993392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27261F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968" y="2121408"/>
            <a:ext cx="476402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 (에이전트)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parquet 저장 → ② spec 저장(mark×encoding)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display_chart → ④ ECharts option 렌더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95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상호작용 (사용자)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brush·레전드 편집 → ⑥ /api/chart/filter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⑦ undo/redo 스택 push → ⑧ 재렌더·동시 반영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4279392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“이미지 생성”이 아니라 데이터(parquet)+선언(spec) 분리 — 그래서 사후 필터·레전드 편집이 가능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필터는 사이드카 파일에 단일 undo/redo 스택으로 영속 — 재진입 후에도 복원·되감기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parquet은 불변 — 필터는 행 제외 목록일 뿐, Reset으로 언제든 원복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39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모음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LLM의 비결정성·실패에 대비한 방어선 (상세: .claude/rules/harness_resilience.md)</a:t>
            </a:r>
            <a:endParaRPr lang="en-US" sz="11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27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617720"/>
                <a:gridCol w="49377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Origin 가드 + 루프백 고정 · 동시 턴 가드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접근 불가 · 같은 세션 중복 요청의 히스토리 오염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슬롯 가드 책임자 분기 · 깨진 tool_call JSON 마커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질문 최소화, LLM 실수는 자가수정 · 스트림 잘림 복구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폭주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상한 8 · 턴 예산 20 · loop-guard · 도구 timeout 30s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무한 루프·비용 폭주·턴 정지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provider 재시도 (지수 백오프)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 오류(429·연결 끊김) 자동 복구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 쌍 보존 트리밍 · 실패 턴 영속 + DoneEvent 보장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와이어 규약 위반(400) 방지 · 예외에도 턴이 증발하지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evaluator 가드 — exec/eval/os/subprocess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폭주 방지 (허용: 안전 stdlib + ALLOWED_LIBRARIES)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 보호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에러 메시지 안전화 · API 키 마스킹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5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키·URL이 화면·로그에 노출되지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5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Mock 시나리오는 happy path만 검증 — 이 방어선들이 실 LLM 투입 시의 신뢰성을 담보한다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AI Agent Platform — 프로젝트 소개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1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658368"/>
            <a:ext cx="384048" cy="384048"/>
          </a:xfrm>
          <a:prstGeom prst="star12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344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한 장으로 보는 전체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21488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단일 EXE로 배포되는 사내 AI Agent 채팅 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2715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2715768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Svelte 5 SPA — localStorage 세션, SSE 실시간 스트리밍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32826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32826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— 정적 서빙 + API + presence 생명주기 + 자동 업데이트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" y="384962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3849624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하니스 루프 — LLM provider와 등록된 도구의 plan 기반 반복 실행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" y="4416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44165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PROMPTS / SKILLS / AGENTS 마크다운 + @register_tool + .env 한 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6656" y="4983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빌드·배포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49834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release.ps1 → PyInstaller EXE + latest.json → Nexus → 자가 교체 업데이트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깊이 보려면  </a:t>
            </a:r>
            <a:pPr indent="0" marL="0">
              <a:buNone/>
            </a:pPr>
            <a:r>
              <a:rPr lang="en-US" sz="1100" b="1" dirty="0">
                <a:solidFill>
                  <a:srgbClr val="E89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docs/overview/*.md</a:t>
            </a:r>
            <a:pPr indent="0" marL="0">
              <a:buNone/>
            </a:pPr>
            <a:r>
              <a:rPr lang="en-US" sz="1100" dirty="0">
                <a:solidFill>
                  <a:srgbClr val="B5B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이 슬라이드의 원고 (섹션 단위 1:1 대응)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단일 EXE로 배포하는 로컬 AI Agent 플랫폼 — 프로젝트 소개</dc:title>
  <dc:subject>PptxGenJS Presentation</dc:subject>
  <dc:creator>hanjoo</dc:creator>
  <cp:lastModifiedBy>hanjoo</cp:lastModifiedBy>
  <cp:revision>1</cp:revision>
  <dcterms:created xsi:type="dcterms:W3CDTF">2026-06-11T09:47:17Z</dcterms:created>
  <dcterms:modified xsi:type="dcterms:W3CDTF">2026-06-11T09:47:17Z</dcterms:modified>
</cp:coreProperties>
</file>